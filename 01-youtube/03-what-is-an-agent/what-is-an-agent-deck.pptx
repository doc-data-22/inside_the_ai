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33C88"/>
                </a:solidFill>
                <a:latin typeface="Arial"/>
              </a:rPr>
              <a:t>INSIDE THE AI  ·  TEACHING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80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</a:rPr>
              <a:t>What Is an AI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5A9CB"/>
                </a:solidFill>
                <a:latin typeface="Arial"/>
              </a:rPr>
              <a:t>The 3 levels of AI, explained for normal people —</a:t>
            </a:r>
          </a:p>
          <a:p>
            <a:pPr algn="l"/>
            <a:r>
              <a:rPr sz="2000" b="0">
                <a:solidFill>
                  <a:srgbClr val="E5A9CB"/>
                </a:solidFill>
                <a:latin typeface="Arial"/>
              </a:rPr>
              <a:t>then we build a real one, free, no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5A9CB"/>
                </a:solidFill>
                <a:latin typeface="Arial"/>
              </a:rPr>
              <a:t>The Data Doc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5120640"/>
            <a:ext cx="3017520" cy="73152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52120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E0A4"/>
                </a:solidFill>
                <a:latin typeface="Arial"/>
              </a:rPr>
              <a:t>PART 1: LEARN · PART 2: BUILD · PART 3: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D1F47"/>
                </a:solidFill>
                <a:latin typeface="Arial"/>
              </a:rPr>
              <a:t>Everyone says "agent." Almost nobody can define it.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1463040"/>
          </a:xfrm>
          <a:prstGeom prst="roundRect">
            <a:avLst/>
          </a:prstGeom>
          <a:solidFill>
            <a:srgbClr val="F6F0F8"/>
          </a:solidFill>
          <a:ln w="25400">
            <a:solidFill>
              <a:srgbClr val="D8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8"/>
                </a:solidFill>
                <a:latin typeface="Arial"/>
              </a:rPr>
              <a:t>"AI agent"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a chatbot with</a:t>
            </a:r>
          </a:p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a new sticker?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474720" cy="1463040"/>
          </a:xfrm>
          <a:prstGeom prst="roundRect">
            <a:avLst/>
          </a:prstGeom>
          <a:solidFill>
            <a:srgbClr val="F6F0F8"/>
          </a:solidFill>
          <a:ln w="25400">
            <a:solidFill>
              <a:srgbClr val="D8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8"/>
                </a:solidFill>
                <a:latin typeface="Arial"/>
              </a:rPr>
              <a:t>"agentic workflow"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sounds expensive.</a:t>
            </a:r>
          </a:p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means... what?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474720" cy="1463040"/>
          </a:xfrm>
          <a:prstGeom prst="roundRect">
            <a:avLst/>
          </a:prstGeom>
          <a:solidFill>
            <a:srgbClr val="F6F0F8"/>
          </a:solidFill>
          <a:ln w="25400">
            <a:solidFill>
              <a:srgbClr val="D8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888"/>
                </a:solidFill>
                <a:latin typeface="Arial"/>
              </a:rPr>
              <a:t>"AI employee"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488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marketing?</a:t>
            </a:r>
          </a:p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or real?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  <a:latin typeface="Arial"/>
              </a:rPr>
              <a:t>Most explanations are written for engineers — or dumbed down to uselessness.</a:t>
            </a:r>
          </a:p>
          <a:p>
            <a:pPr algn="ctr"/>
            <a:r>
              <a:rPr sz="1700" b="0">
                <a:solidFill>
                  <a:srgbClr val="1A1A2E"/>
                </a:solidFill>
                <a:latin typeface="Arial"/>
              </a:rPr>
              <a:t>This one is for people who USE AI and want to actually understand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33C88"/>
                </a:solidFill>
                <a:latin typeface="Arial"/>
              </a:rPr>
              <a:t>One question will settle all of it. Let's climb to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D1F47"/>
                </a:solidFill>
                <a:latin typeface="Arial"/>
              </a:rPr>
              <a:t>The plain-English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554480"/>
            <a:ext cx="9966960" cy="1554480"/>
          </a:xfrm>
          <a:prstGeom prst="roundRect">
            <a:avLst/>
          </a:prstGeom>
          <a:solidFill>
            <a:srgbClr val="3D1F47"/>
          </a:solidFill>
          <a:ln w="25400">
            <a:solidFill>
              <a:srgbClr val="C33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74519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An AI agent is AI that DECIDES its own next step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to get a job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  <a:latin typeface="Arial"/>
              </a:rPr>
              <a:t>Not "AI that talks." Not "AI in a pipeline."</a:t>
            </a:r>
          </a:p>
          <a:p>
            <a:pPr algn="ctr"/>
            <a:r>
              <a:rPr sz="1700" b="0">
                <a:solidFill>
                  <a:srgbClr val="1A1A2E"/>
                </a:solidFill>
                <a:latin typeface="Arial"/>
              </a:rPr>
              <a:t>AI that looks at a goal, picks an action, uses a tool, checks the result — and picks again.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33C88"/>
                </a:solidFill>
                <a:latin typeface="Arial"/>
              </a:rPr>
              <a:t>To see why that's special, you need the two levels BELOW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D1F47"/>
                </a:solidFill>
                <a:latin typeface="Arial"/>
              </a:rPr>
              <a:t>The 3 levels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74720" cy="2377440"/>
          </a:xfrm>
          <a:prstGeom prst="roundRect">
            <a:avLst/>
          </a:prstGeom>
          <a:solidFill>
            <a:srgbClr val="F6F0F8"/>
          </a:solidFill>
          <a:ln w="25400">
            <a:solidFill>
              <a:srgbClr val="D8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888"/>
                </a:solidFill>
                <a:latin typeface="Arial"/>
              </a:rPr>
              <a:t>LEVEL 1 ·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ChatGPT, Gemini, Claude — raw.</a:t>
            </a:r>
          </a:p>
          <a:p>
            <a:pPr algn="ctr"/>
          </a:p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Words in, words out.</a:t>
            </a:r>
          </a:p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No tools. No memory of today.</a:t>
            </a:r>
          </a:p>
          <a:p>
            <a:pPr algn="ctr"/>
          </a:p>
          <a:p>
            <a:pPr algn="ctr"/>
            <a:r>
              <a:rPr sz="1300" b="0">
                <a:solidFill>
                  <a:srgbClr val="1A1A2E"/>
                </a:solidFill>
                <a:latin typeface="Arial"/>
              </a:rPr>
              <a:t>It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554480"/>
            <a:ext cx="3474720" cy="2377440"/>
          </a:xfrm>
          <a:prstGeom prst="roundRect">
            <a:avLst/>
          </a:prstGeom>
          <a:solidFill>
            <a:srgbClr val="3D1F47"/>
          </a:solidFill>
          <a:ln w="25400">
            <a:solidFill>
              <a:srgbClr val="C33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LEVEL 2 ·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0574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A9CB"/>
                </a:solidFill>
                <a:latin typeface="Arial"/>
              </a:rPr>
              <a:t>AI connected in a pipeline.</a:t>
            </a:r>
          </a:p>
          <a:p>
            <a:pPr algn="ctr"/>
          </a:p>
          <a:p>
            <a:pPr algn="ctr"/>
            <a:r>
              <a:rPr sz="1300" b="0">
                <a:solidFill>
                  <a:srgbClr val="E5A9CB"/>
                </a:solidFill>
                <a:latin typeface="Arial"/>
              </a:rPr>
              <a:t>Multi-step, real data —</a:t>
            </a:r>
          </a:p>
          <a:p>
            <a:pPr algn="ctr"/>
            <a:r>
              <a:rPr sz="1300" b="0">
                <a:solidFill>
                  <a:srgbClr val="E5A9CB"/>
                </a:solidFill>
                <a:latin typeface="Arial"/>
              </a:rPr>
              <a:t>but a HUMAN drew the path.</a:t>
            </a:r>
          </a:p>
          <a:p>
            <a:pPr algn="ctr"/>
          </a:p>
          <a:p>
            <a:pPr algn="ctr"/>
            <a:r>
              <a:rPr sz="1300" b="0">
                <a:solidFill>
                  <a:srgbClr val="E5A9CB"/>
                </a:solidFill>
                <a:latin typeface="Arial"/>
              </a:rPr>
              <a:t>It FOLLOWS.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54480"/>
            <a:ext cx="3474720" cy="237744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E0A4"/>
                </a:solidFill>
                <a:latin typeface="Arial"/>
              </a:rPr>
              <a:t>LEVEL 3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0574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E9DB"/>
                </a:solidFill>
                <a:latin typeface="Arial"/>
              </a:rPr>
              <a:t>AI with tools + a goal.</a:t>
            </a:r>
          </a:p>
          <a:p>
            <a:pPr algn="ctr"/>
          </a:p>
          <a:p>
            <a:pPr algn="ctr"/>
            <a:r>
              <a:rPr sz="1300" b="0">
                <a:solidFill>
                  <a:srgbClr val="BFE9DB"/>
                </a:solidFill>
                <a:latin typeface="Arial"/>
              </a:rPr>
              <a:t>IT chooses which tool,</a:t>
            </a:r>
          </a:p>
          <a:p>
            <a:pPr algn="ctr"/>
            <a:r>
              <a:rPr sz="1300" b="0">
                <a:solidFill>
                  <a:srgbClr val="BFE9DB"/>
                </a:solidFill>
                <a:latin typeface="Arial"/>
              </a:rPr>
              <a:t>when, and what's next.</a:t>
            </a:r>
          </a:p>
          <a:p>
            <a:pPr algn="ctr"/>
          </a:p>
          <a:p>
            <a:pPr algn="ctr"/>
            <a:r>
              <a:rPr sz="1300" b="0">
                <a:solidFill>
                  <a:srgbClr val="BFE9DB"/>
                </a:solidFill>
                <a:latin typeface="Arial"/>
              </a:rPr>
              <a:t>It DECIDES.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389120"/>
            <a:ext cx="9966960" cy="1097280"/>
          </a:xfrm>
          <a:prstGeom prst="roundRect">
            <a:avLst/>
          </a:prstGeom>
          <a:solidFill>
            <a:srgbClr val="FFF7DB"/>
          </a:solidFill>
          <a:ln w="254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617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A5D00"/>
                </a:solidFill>
                <a:latin typeface="Arial"/>
              </a:rPr>
              <a:t>The one question that settles everything:  WHO DECIDES THE NEXT STEP?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7888"/>
                </a:solidFill>
                <a:latin typeface="Arial"/>
              </a:rPr>
              <a:t>Human draws the path → workflow.   Model chooses the path →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D1F47"/>
                </a:solidFill>
                <a:latin typeface="Arial"/>
              </a:rPr>
              <a:t>How an agent actually works — the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103120"/>
            <a:ext cx="2103120" cy="1554480"/>
          </a:xfrm>
          <a:prstGeom prst="roundRect">
            <a:avLst/>
          </a:prstGeom>
          <a:solidFill>
            <a:srgbClr val="3D1F47"/>
          </a:solidFill>
          <a:ln w="25400">
            <a:solidFill>
              <a:srgbClr val="C33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8287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 ·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39"/>
            <a:ext cx="17373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A9CB"/>
                </a:solidFill>
                <a:latin typeface="Arial"/>
              </a:rPr>
              <a:t>the goal you gave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2103120"/>
            <a:ext cx="2103120" cy="155448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799" y="2194560"/>
            <a:ext cx="18287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E0A4"/>
                </a:solidFill>
                <a:latin typeface="Arial"/>
              </a:rPr>
              <a:t>2 ·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606039"/>
            <a:ext cx="17373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FE9DB"/>
                </a:solidFill>
                <a:latin typeface="Arial"/>
              </a:rPr>
              <a:t>what's the next step?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9" y="2103120"/>
            <a:ext cx="2103120" cy="1554480"/>
          </a:xfrm>
          <a:prstGeom prst="roundRect">
            <a:avLst/>
          </a:prstGeom>
          <a:solidFill>
            <a:srgbClr val="3D1F47"/>
          </a:solidFill>
          <a:ln w="25400">
            <a:solidFill>
              <a:srgbClr val="C33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194560"/>
            <a:ext cx="18287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 ·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606039"/>
            <a:ext cx="17373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A9CB"/>
                </a:solidFill>
                <a:latin typeface="Arial"/>
              </a:rPr>
              <a:t>pick a tool, use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103120"/>
            <a:ext cx="2103120" cy="155448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2194560"/>
            <a:ext cx="18287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E0A4"/>
                </a:solidFill>
                <a:latin typeface="Arial"/>
              </a:rPr>
              <a:t>4 ·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2606039"/>
            <a:ext cx="17373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FE9DB"/>
                </a:solidFill>
                <a:latin typeface="Arial"/>
              </a:rPr>
              <a:t>did that work?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2103120"/>
            <a:ext cx="2103120" cy="1554480"/>
          </a:xfrm>
          <a:prstGeom prst="roundRect">
            <a:avLst/>
          </a:prstGeom>
          <a:solidFill>
            <a:srgbClr val="3D1F47"/>
          </a:solidFill>
          <a:ln w="25400">
            <a:solidFill>
              <a:srgbClr val="C33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2194560"/>
            <a:ext cx="18287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 · REPEAT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606039"/>
            <a:ext cx="17373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5A9CB"/>
                </a:solidFill>
                <a:latin typeface="Arial"/>
              </a:rPr>
              <a:t>until the job's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  <a:latin typeface="Arial"/>
              </a:rPr>
              <a:t>That tiny loop is the entire magic. Every impressive "agentic" demo you've seen</a:t>
            </a:r>
          </a:p>
          <a:p>
            <a:pPr algn="ctr"/>
            <a:r>
              <a:rPr sz="1700" b="0">
                <a:solidFill>
                  <a:srgbClr val="1A1A2E"/>
                </a:solidFill>
                <a:latin typeface="Arial"/>
              </a:rPr>
              <a:t>is this loop, running fast, with good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33C88"/>
                </a:solidFill>
                <a:latin typeface="Arial"/>
              </a:rPr>
              <a:t>An LLM runs this loop zero times. A workflow runs it on rails. An agent runs it free.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D1F47"/>
                </a:solidFill>
                <a:latin typeface="Arial"/>
              </a:rPr>
              <a:t>Every agent = the same 4 parts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554480"/>
          </a:xfrm>
          <a:prstGeom prst="roundRect">
            <a:avLst/>
          </a:prstGeom>
          <a:solidFill>
            <a:srgbClr val="3D1F47"/>
          </a:solidFill>
          <a:ln w="25400">
            <a:solidFill>
              <a:srgbClr val="C33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 ·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846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A9CB"/>
                </a:solidFill>
                <a:latin typeface="Arial"/>
              </a:rPr>
              <a:t>the brain — Gemini, GPT, Claude</a:t>
            </a:r>
          </a:p>
          <a:p>
            <a:pPr algn="ctr"/>
            <a:r>
              <a:rPr sz="1300" b="0">
                <a:solidFill>
                  <a:srgbClr val="E5A9CB"/>
                </a:solidFill>
                <a:latin typeface="Arial"/>
              </a:rPr>
              <a:t>(ours today: free Gemini)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1554480"/>
          </a:xfrm>
          <a:prstGeom prst="roundRect">
            <a:avLst/>
          </a:prstGeom>
          <a:solidFill>
            <a:srgbClr val="3D1F47"/>
          </a:solidFill>
          <a:ln w="25400">
            <a:solidFill>
              <a:srgbClr val="C33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 · THE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5A9CB"/>
                </a:solidFill>
                <a:latin typeface="Arial"/>
              </a:rPr>
              <a:t>who it is, what it's for,</a:t>
            </a:r>
          </a:p>
          <a:p>
            <a:pPr algn="ctr"/>
            <a:r>
              <a:rPr sz="1300" b="0">
                <a:solidFill>
                  <a:srgbClr val="E5A9CB"/>
                </a:solidFill>
                <a:latin typeface="Arial"/>
              </a:rPr>
              <a:t>what it must never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212080" cy="155448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E0A4"/>
                </a:solidFill>
                <a:latin typeface="Arial"/>
              </a:rPr>
              <a:t>3 · THE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846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E9DB"/>
                </a:solidFill>
                <a:latin typeface="Arial"/>
              </a:rPr>
              <a:t>the hands — your inbox, calendar,</a:t>
            </a:r>
          </a:p>
          <a:p>
            <a:pPr algn="ctr"/>
            <a:r>
              <a:rPr sz="1300" b="0">
                <a:solidFill>
                  <a:srgbClr val="BFE9DB"/>
                </a:solidFill>
                <a:latin typeface="Arial"/>
              </a:rPr>
              <a:t>spreadsheets, calculator, anything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74720"/>
            <a:ext cx="5029200" cy="155448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566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E0A4"/>
                </a:solidFill>
                <a:latin typeface="Arial"/>
              </a:rPr>
              <a:t>4 ·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977639"/>
            <a:ext cx="46634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E9DB"/>
                </a:solidFill>
                <a:latin typeface="Arial"/>
              </a:rPr>
              <a:t>read → decide → act → check →</a:t>
            </a:r>
          </a:p>
          <a:p>
            <a:pPr algn="ctr"/>
            <a:r>
              <a:rPr sz="1300" b="0">
                <a:solidFill>
                  <a:srgbClr val="BFE9DB"/>
                </a:solidFill>
                <a:latin typeface="Arial"/>
              </a:rPr>
              <a:t>repeat until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33C88"/>
                </a:solidFill>
                <a:latin typeface="Arial"/>
              </a:rPr>
              <a:t>Model · Instructions · Tools · Loop. Every agent ever built is these four, arranged differently.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D1F47"/>
                </a:solidFill>
                <a:latin typeface="Arial"/>
              </a:rPr>
              <a:t>What an agent CAN do (today, for real)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520440" cy="141732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0A4"/>
                </a:solidFill>
                <a:latin typeface="Arial"/>
              </a:rPr>
              <a:t>Read &amp; triage your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FE9DB"/>
                </a:solidFill>
                <a:latin typeface="Arial"/>
              </a:rPr>
              <a:t>"3 need you. 24 are noise."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554480"/>
            <a:ext cx="3520440" cy="141732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0A4"/>
                </a:solidFill>
                <a:latin typeface="Arial"/>
              </a:rPr>
              <a:t>WRITE reply drafts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0574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FE9DB"/>
                </a:solidFill>
                <a:latin typeface="Arial"/>
              </a:rPr>
              <a:t>finished replies in your Drafts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54480"/>
            <a:ext cx="3520440" cy="141732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6459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0A4"/>
                </a:solidFill>
                <a:latin typeface="Arial"/>
              </a:rPr>
              <a:t>Brief your meetings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0574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FE9DB"/>
                </a:solidFill>
                <a:latin typeface="Arial"/>
              </a:rPr>
              <a:t>combines calendar + email context itself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3520440" cy="141732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0A4"/>
                </a:solidFill>
                <a:latin typeface="Arial"/>
              </a:rPr>
              <a:t>Do your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FE9DB"/>
                </a:solidFill>
                <a:latin typeface="Arial"/>
              </a:rPr>
              <a:t>billing, totals, spending math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246120"/>
            <a:ext cx="3520440" cy="141732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3375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0A4"/>
                </a:solidFill>
                <a:latin typeface="Arial"/>
              </a:rPr>
              <a:t>Catch follow-ups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74903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FE9DB"/>
                </a:solidFill>
                <a:latin typeface="Arial"/>
              </a:rPr>
              <a:t>"who's waiting on me?"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246120"/>
            <a:ext cx="3520440" cy="141732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3375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0A4"/>
                </a:solidFill>
                <a:latin typeface="Arial"/>
              </a:rPr>
              <a:t>Stack new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4903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FE9DB"/>
                </a:solidFill>
                <a:latin typeface="Arial"/>
              </a:rPr>
              <a:t>add a tool, gain an ability — forever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33C88"/>
                </a:solidFill>
                <a:latin typeface="Arial"/>
              </a:rPr>
              <a:t>The pattern: anything with a tool becomes something it can decide to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D1F47"/>
                </a:solidFill>
                <a:latin typeface="Arial"/>
              </a:rPr>
              <a:t>What an agent CAN'T do (the honest slide)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520440" cy="1417320"/>
          </a:xfrm>
          <a:prstGeom prst="roundRect">
            <a:avLst/>
          </a:prstGeom>
          <a:solidFill>
            <a:srgbClr val="F6F0F8"/>
          </a:solidFill>
          <a:ln w="254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9B2C2C"/>
                </a:solidFill>
                <a:latin typeface="Arial"/>
              </a:rPr>
              <a:t>It can be confidently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A1A2E"/>
                </a:solidFill>
                <a:latin typeface="Arial"/>
              </a:rPr>
              <a:t>models hallucinate — verify what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554480"/>
            <a:ext cx="3520440" cy="1417320"/>
          </a:xfrm>
          <a:prstGeom prst="roundRect">
            <a:avLst/>
          </a:prstGeom>
          <a:solidFill>
            <a:srgbClr val="F6F0F8"/>
          </a:solidFill>
          <a:ln w="254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9B2C2C"/>
                </a:solidFill>
                <a:latin typeface="Arial"/>
              </a:rPr>
              <a:t>It's only as good as its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0574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A1A2E"/>
                </a:solidFill>
                <a:latin typeface="Arial"/>
              </a:rPr>
              <a:t>no calendar tool = no calendar 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54480"/>
            <a:ext cx="3520440" cy="1417320"/>
          </a:xfrm>
          <a:prstGeom prst="roundRect">
            <a:avLst/>
          </a:prstGeom>
          <a:solidFill>
            <a:srgbClr val="F6F0F8"/>
          </a:solidFill>
          <a:ln w="254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6459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9B2C2C"/>
                </a:solidFill>
                <a:latin typeface="Arial"/>
              </a:rPr>
              <a:t>It has no real judgment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057400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A1A2E"/>
                </a:solidFill>
                <a:latin typeface="Arial"/>
              </a:rPr>
              <a:t>it optimizes; it doesn't understand stakes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3520440" cy="1417320"/>
          </a:xfrm>
          <a:prstGeom prst="roundRect">
            <a:avLst/>
          </a:prstGeom>
          <a:solidFill>
            <a:srgbClr val="F6F0F8"/>
          </a:solidFill>
          <a:ln w="254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9B2C2C"/>
                </a:solidFill>
                <a:latin typeface="Arial"/>
              </a:rPr>
              <a:t>It needs 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A1A2E"/>
                </a:solidFill>
                <a:latin typeface="Arial"/>
              </a:rPr>
              <a:t>ours DRAFTS but can never hit send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246120"/>
            <a:ext cx="3520440" cy="1417320"/>
          </a:xfrm>
          <a:prstGeom prst="roundRect">
            <a:avLst/>
          </a:prstGeom>
          <a:solidFill>
            <a:srgbClr val="F6F0F8"/>
          </a:solidFill>
          <a:ln w="254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3375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9B2C2C"/>
                </a:solidFill>
                <a:latin typeface="Arial"/>
              </a:rPr>
              <a:t>Free tiers have speed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74903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A1A2E"/>
                </a:solidFill>
                <a:latin typeface="Arial"/>
              </a:rPr>
              <a:t>rate limits pause it — patience, not payment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246120"/>
            <a:ext cx="3520440" cy="1417320"/>
          </a:xfrm>
          <a:prstGeom prst="roundRect">
            <a:avLst/>
          </a:prstGeom>
          <a:solidFill>
            <a:srgbClr val="F6F0F8"/>
          </a:solidFill>
          <a:ln w="25400">
            <a:solidFill>
              <a:srgbClr val="E0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3375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9B2C2C"/>
                </a:solidFill>
                <a:latin typeface="Arial"/>
              </a:rPr>
              <a:t>Access =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49039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A1A2E"/>
                </a:solidFill>
                <a:latin typeface="Arial"/>
              </a:rPr>
              <a:t>give it what you'd give a new intern. No more.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33C88"/>
                </a:solidFill>
                <a:latin typeface="Arial"/>
              </a:rPr>
              <a:t>Rule of thumb: the agent does the work — YOU keep the judgment and the send button.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D1F47"/>
                </a:solidFill>
                <a:latin typeface="Arial"/>
              </a:rPr>
              <a:t>Why this is worth an hour of your Saturday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74720" cy="2103120"/>
          </a:xfrm>
          <a:prstGeom prst="roundRect">
            <a:avLst/>
          </a:prstGeom>
          <a:solidFill>
            <a:srgbClr val="3D1F47"/>
          </a:solidFill>
          <a:ln w="25400">
            <a:solidFill>
              <a:srgbClr val="C33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D640"/>
                </a:solidFill>
                <a:latin typeface="Arial"/>
              </a:rPr>
              <a:t>$35 /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is what companies charge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for this exact agent.</a:t>
            </a:r>
          </a:p>
          <a:p>
            <a:pPr algn="ctr"/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Yours: $0. And you OWN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554480"/>
            <a:ext cx="3474720" cy="210312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0A4"/>
                </a:solidFill>
                <a:latin typeface="Arial"/>
              </a:rPr>
              <a:t>~30 min /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0574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E9DB"/>
                </a:solidFill>
                <a:latin typeface="Arial"/>
              </a:rPr>
              <a:t>typical time lost to email</a:t>
            </a:r>
          </a:p>
          <a:p>
            <a:pPr algn="ctr"/>
            <a:r>
              <a:rPr sz="1300" b="0">
                <a:solidFill>
                  <a:srgbClr val="BFE9DB"/>
                </a:solidFill>
                <a:latin typeface="Arial"/>
              </a:rPr>
              <a:t>triage alone.</a:t>
            </a:r>
          </a:p>
          <a:p>
            <a:pPr algn="ctr"/>
          </a:p>
          <a:p>
            <a:pPr algn="ctr"/>
            <a:r>
              <a:rPr sz="1300" b="0">
                <a:solidFill>
                  <a:srgbClr val="BFE9DB"/>
                </a:solidFill>
                <a:latin typeface="Arial"/>
              </a:rPr>
              <a:t>That's 3 hours a week 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54480"/>
            <a:ext cx="3474720" cy="2103120"/>
          </a:xfrm>
          <a:prstGeom prst="roundRect">
            <a:avLst/>
          </a:prstGeom>
          <a:solidFill>
            <a:srgbClr val="2A1631"/>
          </a:solidFill>
          <a:ln w="25400">
            <a:solidFill>
              <a:srgbClr val="C33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It compounds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05740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E5A9CB"/>
                </a:solidFill>
                <a:latin typeface="Arial"/>
              </a:rPr>
              <a:t>every tool you add =</a:t>
            </a:r>
          </a:p>
          <a:p>
            <a:pPr algn="ctr"/>
            <a:r>
              <a:rPr sz="1250" b="0">
                <a:solidFill>
                  <a:srgbClr val="E5A9CB"/>
                </a:solidFill>
                <a:latin typeface="Arial"/>
              </a:rPr>
              <a:t>a permanent new skill.</a:t>
            </a:r>
          </a:p>
          <a:p>
            <a:pPr algn="ctr"/>
            <a:r>
              <a:rPr sz="1250" b="0">
                <a:solidFill>
                  <a:srgbClr val="E5A9CB"/>
                </a:solidFill>
                <a:latin typeface="Arial"/>
              </a:rPr>
              <a:t>Money. News. Tasks.</a:t>
            </a:r>
          </a:p>
          <a:p>
            <a:pPr algn="ctr"/>
            <a:r>
              <a:rPr sz="1250" b="0">
                <a:solidFill>
                  <a:srgbClr val="E5A9CB"/>
                </a:solidFill>
                <a:latin typeface="Arial"/>
              </a:rPr>
              <a:t>The same 4 parts, forever.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0">
                <a:solidFill>
                  <a:srgbClr val="1A1A2E"/>
                </a:solidFill>
                <a:latin typeface="Arial"/>
              </a:rPr>
              <a:t>And the quiet value: once you've BUILT one, no one can hype you again.</a:t>
            </a:r>
          </a:p>
          <a:p>
            <a:pPr algn="ctr"/>
            <a:r>
              <a:rPr sz="1650" b="0">
                <a:solidFill>
                  <a:srgbClr val="1A1A2E"/>
                </a:solidFill>
                <a:latin typeface="Arial"/>
              </a:rPr>
              <a:t>You'll know exactly what "agentic" means — because yours is running.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33C88"/>
                </a:solidFill>
                <a:latin typeface="Arial"/>
              </a:rPr>
              <a:t>Enough slides. Let's build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D1F47"/>
                </a:solidFill>
                <a:latin typeface="Arial"/>
              </a:rPr>
              <a:t>Today's build: all 3 levels on one canvas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1737360"/>
          </a:xfrm>
          <a:prstGeom prst="roundRect">
            <a:avLst/>
          </a:prstGeom>
          <a:solidFill>
            <a:srgbClr val="F6F0F8"/>
          </a:solidFill>
          <a:ln w="25400">
            <a:solidFill>
              <a:srgbClr val="D8C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B7888"/>
                </a:solidFill>
                <a:latin typeface="Arial"/>
              </a:rPr>
              <a:t>LEVEL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A1A2E"/>
                </a:solidFill>
                <a:latin typeface="Arial"/>
              </a:rPr>
              <a:t>one question →</a:t>
            </a:r>
          </a:p>
          <a:p>
            <a:pPr algn="ctr"/>
            <a:r>
              <a:rPr sz="1250" b="0">
                <a:solidFill>
                  <a:srgbClr val="1A1A2E"/>
                </a:solidFill>
                <a:latin typeface="Arial"/>
              </a:rPr>
              <a:t>the raw model answers</a:t>
            </a:r>
          </a:p>
          <a:p>
            <a:pPr algn="ctr"/>
            <a:r>
              <a:rPr sz="1250" b="0">
                <a:solidFill>
                  <a:srgbClr val="1A1A2E"/>
                </a:solidFill>
                <a:latin typeface="Arial"/>
              </a:rPr>
              <a:t>(and shows its limits)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474720" cy="1737360"/>
          </a:xfrm>
          <a:prstGeom prst="roundRect">
            <a:avLst/>
          </a:prstGeom>
          <a:solidFill>
            <a:srgbClr val="3D1F47"/>
          </a:solidFill>
          <a:ln w="25400">
            <a:solidFill>
              <a:srgbClr val="C33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LEVEL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E5A9CB"/>
                </a:solidFill>
                <a:latin typeface="Arial"/>
              </a:rPr>
              <a:t>news pipeline:</a:t>
            </a:r>
          </a:p>
          <a:p>
            <a:pPr algn="ctr"/>
            <a:r>
              <a:rPr sz="1250" b="0">
                <a:solidFill>
                  <a:srgbClr val="E5A9CB"/>
                </a:solidFill>
                <a:latin typeface="Arial"/>
              </a:rPr>
              <a:t>fetch → bundle → summarize</a:t>
            </a:r>
          </a:p>
          <a:p>
            <a:pPr algn="ctr"/>
            <a:r>
              <a:rPr sz="1250" b="0">
                <a:solidFill>
                  <a:srgbClr val="E5A9CB"/>
                </a:solidFill>
                <a:latin typeface="Arial"/>
              </a:rPr>
              <a:t>(my rails, every time)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474720" cy="1737360"/>
          </a:xfrm>
          <a:prstGeom prst="roundRect">
            <a:avLst/>
          </a:prstGeom>
          <a:solidFill>
            <a:srgbClr val="12313F"/>
          </a:solidFill>
          <a:ln w="25400">
            <a:solidFill>
              <a:srgbClr val="00E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E0A4"/>
                </a:solidFill>
                <a:latin typeface="Arial"/>
              </a:rPr>
              <a:t>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4884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BFE9DB"/>
                </a:solidFill>
                <a:latin typeface="Arial"/>
              </a:rPr>
              <a:t>THE WORK AGENT:</a:t>
            </a:r>
          </a:p>
          <a:p>
            <a:pPr algn="ctr"/>
            <a:r>
              <a:rPr sz="1250" b="0">
                <a:solidFill>
                  <a:srgbClr val="BFE9DB"/>
                </a:solidFill>
                <a:latin typeface="Arial"/>
              </a:rPr>
              <a:t>Inbox · Draft a Reply ·</a:t>
            </a:r>
          </a:p>
          <a:p>
            <a:pPr algn="ctr"/>
            <a:r>
              <a:rPr sz="1250" b="0">
                <a:solidFill>
                  <a:srgbClr val="BFE9DB"/>
                </a:solidFill>
                <a:latin typeface="Arial"/>
              </a:rPr>
              <a:t>Calendar · 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Arial"/>
              </a:rPr>
              <a:t>One free JSON file. One free Gemini key. Two optional Google sign-ins.</a:t>
            </a:r>
          </a:p>
          <a:p>
            <a:pPr algn="ctr"/>
            <a:r>
              <a:rPr sz="1600" b="0">
                <a:solidFill>
                  <a:srgbClr val="1A1A2E"/>
                </a:solidFill>
                <a:latin typeface="Arial"/>
              </a:rPr>
              <a:t>Import from the workflow LIST — never onto an open canvas.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33C88"/>
                </a:solidFill>
                <a:latin typeface="Arial"/>
              </a:rPr>
              <a:t>github.com/DOC-DATA-22/Inside_The_AI — first link below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The one sentence to keep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9966960" cy="1737360"/>
          </a:xfrm>
          <a:prstGeom prst="roundRect">
            <a:avLst/>
          </a:prstGeom>
          <a:solidFill>
            <a:srgbClr val="2A1631"/>
          </a:solidFill>
          <a:ln w="25400">
            <a:solidFill>
              <a:srgbClr val="C33C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An LLM answers.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 workflow follows.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An agent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E5A9CB"/>
                </a:solidFill>
                <a:latin typeface="Arial"/>
              </a:rPr>
              <a:t>Free build + guide on the GitHub · new agents every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0A4"/>
                </a:solidFill>
                <a:latin typeface="Arial"/>
              </a:rPr>
              <a:t>Subscribe — and stay sharp, stay safe.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